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206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18120" y="0"/>
            <a:ext cx="4370832" cy="6858000"/>
          </a:xfrm>
          <a:prstGeom prst="roundRect">
            <a:avLst/>
          </a:prstGeom>
          <a:solidFill>
            <a:srgbClr val="36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658368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CEAE5B"/>
                </a:solidFill>
                <a:latin typeface="Aptos"/>
              </a:defRPr>
            </a:pPr>
            <a:r>
              <a:t>MOBILALKALMAZÁS • BEFEKTETŐI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583680" cy="1371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/>
              <a:t>MADÁR-</a:t>
            </a:r>
          </a:p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/>
              <a:t>KALAUZ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6400800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300" b="1">
                <a:solidFill>
                  <a:srgbClr val="EBF2E5"/>
                </a:solidFill>
                <a:latin typeface="Aptos"/>
              </a:defRPr>
            </a:pPr>
            <a:r>
              <a:t>Minden észlelés egy történet.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6217920" cy="9144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Magyar nyelvű digitális terepnapló,</a:t>
            </a:r>
          </a:p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amely rendszerezi a madármegfigyeléseket.</a:t>
            </a:r>
          </a:p>
        </p:txBody>
      </p:sp>
      <p:pic>
        <p:nvPicPr>
          <p:cNvPr id="7" name="Picture 6" descr="a_clean_flat_mobile_app_ui_mockup_on_a_smart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02920"/>
            <a:ext cx="3351628" cy="5806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309360"/>
            <a:ext cx="6400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0">
                <a:solidFill>
                  <a:srgbClr val="EBF2E5"/>
                </a:solidFill>
                <a:latin typeface="Aptos"/>
              </a:defRPr>
            </a:pPr>
            <a:r>
              <a:t>Projektkoncepció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01 • PROBLÉMA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t>A megfigyelések könnyen elvesznek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t>A természet élménye megmarad — a részletek gyakran szétszóródnak.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214884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971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300" b="1">
                <a:solidFill>
                  <a:srgbClr val="365E3D"/>
                </a:solidFill>
                <a:latin typeface="Aptos"/>
              </a:defRPr>
            </a:pPr>
            <a:r>
              <a:t>SZÉTSZÓRT JEGYZETEK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3192284" cy="52937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6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Papíron</a:t>
            </a:r>
            <a:r>
              <a:rPr dirty="0"/>
              <a:t>, </a:t>
            </a:r>
            <a:r>
              <a:rPr dirty="0" err="1"/>
              <a:t>emlékezetből</a:t>
            </a:r>
            <a:r>
              <a:rPr dirty="0"/>
              <a:t> </a:t>
            </a:r>
            <a:r>
              <a:rPr dirty="0" err="1"/>
              <a:t>vagy</a:t>
            </a:r>
            <a:endParaRPr lang="hu-HU" dirty="0"/>
          </a:p>
          <a:p>
            <a:pPr algn="l">
              <a:defRPr sz="1600" b="0">
                <a:solidFill>
                  <a:srgbClr val="2E392F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különböző</a:t>
            </a:r>
            <a:r>
              <a:rPr dirty="0"/>
              <a:t> </a:t>
            </a:r>
            <a:r>
              <a:rPr dirty="0" err="1"/>
              <a:t>appokban</a:t>
            </a:r>
            <a:r>
              <a:rPr dirty="0"/>
              <a:t> </a:t>
            </a:r>
            <a:r>
              <a:rPr dirty="0" err="1"/>
              <a:t>tárolt</a:t>
            </a:r>
            <a:r>
              <a:rPr dirty="0"/>
              <a:t> </a:t>
            </a:r>
            <a:r>
              <a:rPr dirty="0" err="1"/>
              <a:t>adatok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429000" cy="214884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971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300" b="1">
                <a:solidFill>
                  <a:srgbClr val="365E3D"/>
                </a:solidFill>
                <a:latin typeface="Aptos"/>
              </a:defRPr>
            </a:pPr>
            <a:r>
              <a:t>NEHÉZ VISSZAKERESÉS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88920"/>
            <a:ext cx="3262688" cy="52937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6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Mikor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hol</a:t>
            </a:r>
            <a:r>
              <a:rPr dirty="0"/>
              <a:t> </a:t>
            </a:r>
            <a:r>
              <a:rPr dirty="0" err="1"/>
              <a:t>láttunk</a:t>
            </a:r>
            <a:r>
              <a:rPr dirty="0"/>
              <a:t> </a:t>
            </a: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fajt</a:t>
            </a:r>
            <a:r>
              <a:rPr dirty="0"/>
              <a:t>? </a:t>
            </a:r>
            <a:endParaRPr lang="hu-HU" dirty="0"/>
          </a:p>
          <a:p>
            <a:pPr algn="l">
              <a:defRPr sz="16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Milyen</a:t>
            </a:r>
            <a:r>
              <a:rPr dirty="0"/>
              <a:t> </a:t>
            </a:r>
            <a:r>
              <a:rPr dirty="0" err="1"/>
              <a:t>megfigyeléseket</a:t>
            </a:r>
            <a:r>
              <a:rPr dirty="0"/>
              <a:t> </a:t>
            </a:r>
            <a:r>
              <a:rPr dirty="0" err="1"/>
              <a:t>gyűjtöttünk</a:t>
            </a:r>
            <a:r>
              <a:rPr dirty="0"/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429000" cy="214884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286000"/>
            <a:ext cx="2971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300" b="1">
                <a:solidFill>
                  <a:srgbClr val="365E3D"/>
                </a:solidFill>
                <a:latin typeface="Aptos"/>
              </a:defRPr>
            </a:pPr>
            <a:r>
              <a:t>KEZDŐK AKADÁLYAI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88920"/>
            <a:ext cx="2923173" cy="52937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600" b="0">
                <a:solidFill>
                  <a:srgbClr val="2E392F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túl</a:t>
            </a:r>
            <a:r>
              <a:rPr dirty="0"/>
              <a:t> </a:t>
            </a:r>
            <a:r>
              <a:rPr dirty="0" err="1"/>
              <a:t>összetett</a:t>
            </a:r>
            <a:r>
              <a:rPr dirty="0"/>
              <a:t> </a:t>
            </a:r>
            <a:r>
              <a:rPr dirty="0" err="1"/>
              <a:t>eszközök</a:t>
            </a:r>
            <a:r>
              <a:rPr dirty="0"/>
              <a:t> </a:t>
            </a:r>
            <a:endParaRPr lang="hu-HU" dirty="0"/>
          </a:p>
          <a:p>
            <a:pPr algn="l">
              <a:defRPr sz="16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elvehetik</a:t>
            </a:r>
            <a:r>
              <a:rPr dirty="0"/>
              <a:t> a </a:t>
            </a:r>
            <a:r>
              <a:rPr dirty="0" err="1"/>
              <a:t>kedvet</a:t>
            </a:r>
            <a:r>
              <a:rPr dirty="0"/>
              <a:t> a </a:t>
            </a:r>
            <a:r>
              <a:rPr dirty="0" err="1"/>
              <a:t>naplózástól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10515600" cy="5943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100" b="1">
                <a:solidFill>
                  <a:srgbClr val="1F2B21"/>
                </a:solidFill>
                <a:latin typeface="Aptos"/>
              </a:defRPr>
            </a:pPr>
            <a:r>
              <a:t>Lehetőség: egyetlen, könnyen kezelhető személyes napló.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02 • MEGOLDÁS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t>A Madárkalauz a megfigyelés köré épül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t>Először a naplózást teszi egyszerűvé; a fejlett azonosítás későbbi fejlesztési irány.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56432" cy="132588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65960"/>
            <a:ext cx="30632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365E3D"/>
                </a:solidFill>
                <a:latin typeface="Aptos"/>
              </a:defRPr>
            </a:pPr>
            <a:r>
              <a:t>GYORS RÖGZÍTÉS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2943626" cy="4678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rPr dirty="0"/>
              <a:t>Faj, </a:t>
            </a:r>
            <a:r>
              <a:rPr dirty="0" err="1"/>
              <a:t>dátum</a:t>
            </a:r>
            <a:r>
              <a:rPr dirty="0"/>
              <a:t>, </a:t>
            </a:r>
            <a:r>
              <a:rPr dirty="0" err="1"/>
              <a:t>idő</a:t>
            </a:r>
            <a:r>
              <a:rPr dirty="0"/>
              <a:t>, </a:t>
            </a:r>
            <a:r>
              <a:rPr dirty="0" err="1"/>
              <a:t>helyszín</a:t>
            </a:r>
            <a:r>
              <a:rPr dirty="0"/>
              <a:t>, </a:t>
            </a:r>
            <a:r>
              <a:rPr dirty="0" err="1"/>
              <a:t>darabszám</a:t>
            </a:r>
            <a:r>
              <a:rPr dirty="0"/>
              <a:t>,</a:t>
            </a:r>
            <a:endParaRPr lang="hu-HU" dirty="0"/>
          </a:p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megjegyzés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07992" y="1783080"/>
            <a:ext cx="3456432" cy="132588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1965960"/>
            <a:ext cx="30632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365E3D"/>
                </a:solidFill>
                <a:latin typeface="Aptos"/>
              </a:defRPr>
            </a:pPr>
            <a:r>
              <a:t>SAJÁT FAJLISTA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313432"/>
            <a:ext cx="3017520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t>Az eddig megfigyelt fajok egy helyen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1783080"/>
            <a:ext cx="3456432" cy="132588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352" y="1965960"/>
            <a:ext cx="30632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365E3D"/>
                </a:solidFill>
                <a:latin typeface="Aptos"/>
              </a:defRPr>
            </a:pPr>
            <a:r>
              <a:t>TÉRKÉP + KERESÉS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313432"/>
            <a:ext cx="2244140" cy="4678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Visszakeresés</a:t>
            </a:r>
            <a:r>
              <a:rPr dirty="0"/>
              <a:t> </a:t>
            </a:r>
            <a:r>
              <a:rPr dirty="0" err="1"/>
              <a:t>faj</a:t>
            </a:r>
            <a:r>
              <a:rPr dirty="0"/>
              <a:t>, </a:t>
            </a:r>
            <a:r>
              <a:rPr dirty="0" err="1"/>
              <a:t>dátum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endParaRPr lang="hu-HU" dirty="0"/>
          </a:p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helyszín</a:t>
            </a:r>
            <a:r>
              <a:rPr dirty="0"/>
              <a:t> </a:t>
            </a:r>
            <a:r>
              <a:rPr dirty="0" err="1"/>
              <a:t>szerint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3456432" cy="132588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657600"/>
            <a:ext cx="30632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365E3D"/>
                </a:solidFill>
                <a:latin typeface="Aptos"/>
              </a:defRPr>
            </a:pPr>
            <a:r>
              <a:t>OFFLINE MÓD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005072"/>
            <a:ext cx="3017520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t>Rögzítés internet nélkül, későbbi szinkron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3474720"/>
            <a:ext cx="3456432" cy="132588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59" y="3657600"/>
            <a:ext cx="30632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365E3D"/>
                </a:solidFill>
                <a:latin typeface="Aptos"/>
              </a:defRPr>
            </a:pPr>
            <a:r>
              <a:t>EXPORT + MENTÉS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005072"/>
            <a:ext cx="3017520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t>A személyes adatok letölthetők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3474720"/>
            <a:ext cx="3456432" cy="132588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31352" y="3657600"/>
            <a:ext cx="30632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365E3D"/>
                </a:solidFill>
                <a:latin typeface="Aptos"/>
              </a:defRPr>
            </a:pPr>
            <a:r>
              <a:t>FELELŐS MEGOSZTÁS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4005072"/>
            <a:ext cx="3017520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0">
                <a:solidFill>
                  <a:srgbClr val="2E392F"/>
                </a:solidFill>
                <a:latin typeface="Aptos"/>
              </a:defRPr>
            </a:pPr>
            <a:r>
              <a:t>Érzékeny fajok helyadatai védhetők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03 • CÉLKÖZÖNSÉG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t>Három jól körülírható célcsoport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t>Közös igény: a megfigyelések egyszerű rögzítése és későbbi visszakeresése.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74720" cy="228600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3017520" cy="4572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1">
                <a:solidFill>
                  <a:srgbClr val="365E3D"/>
                </a:solidFill>
                <a:latin typeface="Aptos"/>
              </a:defRPr>
            </a:pPr>
            <a:r>
              <a:t>KEZDŐ TERMÉSZETKEDVELŐK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1946302" cy="82176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Gyors</a:t>
            </a:r>
            <a:r>
              <a:rPr dirty="0"/>
              <a:t> </a:t>
            </a:r>
            <a:r>
              <a:rPr dirty="0" err="1"/>
              <a:t>fajkeresés</a:t>
            </a:r>
            <a:r>
              <a:rPr dirty="0"/>
              <a:t>, </a:t>
            </a:r>
            <a:endParaRPr lang="hu-HU" dirty="0"/>
          </a:p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rövid</a:t>
            </a:r>
            <a:r>
              <a:rPr dirty="0"/>
              <a:t> </a:t>
            </a:r>
            <a:r>
              <a:rPr dirty="0" err="1"/>
              <a:t>magyarázatok</a:t>
            </a:r>
            <a:r>
              <a:rPr dirty="0"/>
              <a:t>,</a:t>
            </a:r>
            <a:endParaRPr lang="hu-HU" dirty="0"/>
          </a:p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könnyű</a:t>
            </a:r>
            <a:r>
              <a:rPr dirty="0"/>
              <a:t> </a:t>
            </a:r>
            <a:r>
              <a:rPr dirty="0" err="1"/>
              <a:t>használat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57400"/>
            <a:ext cx="3474720" cy="228600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2395728"/>
            <a:ext cx="3017520" cy="4572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1">
                <a:solidFill>
                  <a:srgbClr val="365E3D"/>
                </a:solidFill>
                <a:latin typeface="Aptos"/>
              </a:defRPr>
            </a:pPr>
            <a:r>
              <a:t>HOBBI MADARÁSZOK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3035808"/>
            <a:ext cx="3085332" cy="56015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Részletes</a:t>
            </a:r>
            <a:r>
              <a:rPr dirty="0"/>
              <a:t> </a:t>
            </a:r>
            <a:r>
              <a:rPr dirty="0" err="1"/>
              <a:t>napló</a:t>
            </a:r>
            <a:r>
              <a:rPr dirty="0"/>
              <a:t>, </a:t>
            </a:r>
            <a:endParaRPr lang="hu-HU" dirty="0"/>
          </a:p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térkép</a:t>
            </a:r>
            <a:r>
              <a:rPr dirty="0"/>
              <a:t>, </a:t>
            </a:r>
            <a:r>
              <a:rPr dirty="0" err="1"/>
              <a:t>szűrők</a:t>
            </a:r>
            <a:r>
              <a:rPr dirty="0"/>
              <a:t>, </a:t>
            </a:r>
            <a:r>
              <a:rPr dirty="0" err="1"/>
              <a:t>fajlista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2057400"/>
            <a:ext cx="3474720" cy="2286000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58784" y="2395728"/>
            <a:ext cx="3017520" cy="4572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400" b="1">
                <a:solidFill>
                  <a:srgbClr val="365E3D"/>
                </a:solidFill>
                <a:latin typeface="Aptos"/>
              </a:defRPr>
            </a:pPr>
            <a:r>
              <a:t>ISKOLÁK, CSALÁDOK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035808"/>
            <a:ext cx="2784737" cy="56015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Természetismereti</a:t>
            </a:r>
            <a:r>
              <a:rPr dirty="0"/>
              <a:t> </a:t>
            </a:r>
            <a:r>
              <a:rPr dirty="0" err="1"/>
              <a:t>feladatok</a:t>
            </a:r>
            <a:r>
              <a:rPr dirty="0"/>
              <a:t>,</a:t>
            </a:r>
            <a:endParaRPr lang="hu-HU" dirty="0"/>
          </a:p>
          <a:p>
            <a:pPr algn="l">
              <a:defRPr sz="1700" b="0">
                <a:solidFill>
                  <a:srgbClr val="2E392F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közös</a:t>
            </a:r>
            <a:r>
              <a:rPr dirty="0"/>
              <a:t> </a:t>
            </a:r>
            <a:r>
              <a:rPr dirty="0" err="1"/>
              <a:t>kihívások</a:t>
            </a:r>
            <a:r>
              <a:rPr dirty="0"/>
              <a:t>, </a:t>
            </a:r>
            <a:r>
              <a:rPr dirty="0" err="1"/>
              <a:t>tanulás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515600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F2B21"/>
                </a:solidFill>
                <a:latin typeface="Aptos"/>
              </a:defRPr>
            </a:pPr>
            <a:r>
              <a:t>Pozicionálás: magyar nyelvű, naplóközpontú és természetbarát megoldás.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04 • VERSENYELŐNY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t>Nem azonosító appnak indul — személyes naplónak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t>A Merlin Bird ID és az eBird fontos viszonyítási pontok, eltérő fókuszokkal.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847088" cy="502920"/>
          </a:xfrm>
          <a:prstGeom prst="roundRect">
            <a:avLst/>
          </a:prstGeom>
          <a:solidFill>
            <a:srgbClr val="1F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755648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SZEMPONT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783080"/>
            <a:ext cx="2852928" cy="502920"/>
          </a:xfrm>
          <a:prstGeom prst="roundRect">
            <a:avLst/>
          </a:prstGeom>
          <a:solidFill>
            <a:srgbClr val="36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1901952"/>
            <a:ext cx="2761488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MADÁRKALAUZ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783080"/>
            <a:ext cx="2852928" cy="502920"/>
          </a:xfrm>
          <a:prstGeom prst="roundRect">
            <a:avLst/>
          </a:prstGeom>
          <a:solidFill>
            <a:srgbClr val="1F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901952"/>
            <a:ext cx="2761488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MERLIN BIRD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783080"/>
            <a:ext cx="2852928" cy="502920"/>
          </a:xfrm>
          <a:prstGeom prst="roundRect">
            <a:avLst/>
          </a:prstGeom>
          <a:solidFill>
            <a:srgbClr val="1F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901952"/>
            <a:ext cx="2761488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EBIRD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86584"/>
            <a:ext cx="184708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2505456"/>
            <a:ext cx="173736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E392F"/>
                </a:solidFill>
                <a:latin typeface="Aptos"/>
              </a:defRPr>
            </a:pPr>
            <a:r>
              <a:t>Fő fókusz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386584"/>
            <a:ext cx="285292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60904" y="2505456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E392F"/>
                </a:solidFill>
                <a:latin typeface="Aptos"/>
              </a:defRPr>
            </a:pPr>
            <a:r>
              <a:t>Személyes napló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2386584"/>
            <a:ext cx="285292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86984" y="2505456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2E392F"/>
                </a:solidFill>
                <a:latin typeface="Aptos"/>
              </a:defRPr>
            </a:pPr>
            <a:r>
              <a:t>Fajazonosítás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386584"/>
            <a:ext cx="285292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13064" y="2505456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2E392F"/>
                </a:solidFill>
                <a:latin typeface="Aptos"/>
              </a:defRPr>
            </a:pPr>
            <a:r>
              <a:t>Megfigyelések beküldése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9815"/>
            <a:ext cx="1847088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" y="3218687"/>
            <a:ext cx="173736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E392F"/>
                </a:solidFill>
                <a:latin typeface="Aptos"/>
              </a:defRPr>
            </a:pPr>
            <a:r>
              <a:t>Alapérték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3099815"/>
            <a:ext cx="2852928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0904" y="3218687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E392F"/>
                </a:solidFill>
                <a:latin typeface="Aptos"/>
              </a:defRPr>
            </a:pPr>
            <a:r>
              <a:t>Egyszerű rögzítés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3099815"/>
            <a:ext cx="2852928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86984" y="3218687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2E392F"/>
                </a:solidFill>
                <a:latin typeface="Aptos"/>
              </a:defRPr>
            </a:pPr>
            <a:r>
              <a:t>Azonosítási segítség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3099815"/>
            <a:ext cx="2852928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13064" y="3218687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2E392F"/>
                </a:solidFill>
                <a:latin typeface="Aptos"/>
              </a:defRPr>
            </a:pPr>
            <a:r>
              <a:t>Közösségi adatbázis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13048"/>
            <a:ext cx="184708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" y="3931920"/>
            <a:ext cx="173736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E392F"/>
                </a:solidFill>
                <a:latin typeface="Aptos"/>
              </a:defRPr>
            </a:pPr>
            <a:r>
              <a:t>Tervezett előny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6040" y="3813048"/>
            <a:ext cx="285292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60904" y="3931920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E392F"/>
                </a:solidFill>
                <a:latin typeface="Aptos"/>
              </a:defRPr>
            </a:pPr>
            <a:r>
              <a:t>Magyar UX, offline napló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3813048"/>
            <a:ext cx="285292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86984" y="3931920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2E392F"/>
                </a:solidFill>
                <a:latin typeface="Aptos"/>
              </a:defRPr>
            </a:pPr>
            <a:r>
              <a:t>Azonosító funkciók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58200" y="3813048"/>
            <a:ext cx="2852928" cy="585216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13064" y="3931920"/>
            <a:ext cx="27432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100" b="0">
                <a:solidFill>
                  <a:srgbClr val="2E392F"/>
                </a:solidFill>
                <a:latin typeface="Aptos"/>
              </a:defRPr>
            </a:pPr>
            <a:r>
              <a:t>Tudományos adatgyűjtés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300" b="0">
                <a:solidFill>
                  <a:srgbClr val="697568"/>
                </a:solidFill>
                <a:latin typeface="Aptos"/>
              </a:defRPr>
            </a:pPr>
            <a:r>
              <a:t>A pozíciót felhasználói tesztekkel és aktuális konkurenciaelemzéssel kell validálni.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05 • ÜZLETI 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t>Ingyenes belépés, opcionális prémium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t>A bevételi modell a rendszeres használatot célozza, de nem zárja ki a kezdőket.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20824"/>
            <a:ext cx="3154680" cy="2779775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3252" y="2223958"/>
            <a:ext cx="420624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000" b="1">
                <a:solidFill>
                  <a:srgbClr val="365E3D"/>
                </a:solidFill>
                <a:latin typeface="Aptos"/>
              </a:defRPr>
            </a:pPr>
            <a:r>
              <a:rPr dirty="0"/>
              <a:t>ALAP • 0 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8" y="2830952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788729"/>
            <a:ext cx="4005072" cy="51206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Alapnapló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alapstatisztikák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72668" y="3336289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3289997"/>
            <a:ext cx="4005072" cy="51206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Saját</a:t>
            </a:r>
            <a:r>
              <a:rPr dirty="0"/>
              <a:t> </a:t>
            </a:r>
            <a:r>
              <a:rPr dirty="0" err="1"/>
              <a:t>fajlista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79145" y="3887084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776855"/>
            <a:ext cx="4005072" cy="51206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dirty="0" err="1"/>
              <a:t>Kezdők</a:t>
            </a:r>
            <a:r>
              <a:rPr dirty="0"/>
              <a:t> </a:t>
            </a:r>
            <a:r>
              <a:rPr dirty="0" err="1"/>
              <a:t>számára</a:t>
            </a:r>
            <a:r>
              <a:rPr dirty="0"/>
              <a:t> is </a:t>
            </a:r>
            <a:r>
              <a:rPr dirty="0" err="1"/>
              <a:t>elérhető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766560" y="3310127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66560" y="3749039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0" y="4187952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EBEB87EF-A1C6-EBCD-F934-5FBD2E8F5337}"/>
              </a:ext>
            </a:extLst>
          </p:cNvPr>
          <p:cNvGrpSpPr/>
          <p:nvPr/>
        </p:nvGrpSpPr>
        <p:grpSpPr>
          <a:xfrm>
            <a:off x="4407408" y="2002536"/>
            <a:ext cx="4617720" cy="2798064"/>
            <a:chOff x="6446520" y="2002536"/>
            <a:chExt cx="4617720" cy="2798064"/>
          </a:xfrm>
        </p:grpSpPr>
        <p:sp>
          <p:nvSpPr>
            <p:cNvPr id="13" name="Rounded Rectangle 12"/>
            <p:cNvSpPr/>
            <p:nvPr/>
          </p:nvSpPr>
          <p:spPr>
            <a:xfrm>
              <a:off x="6446520" y="2002536"/>
              <a:ext cx="3154680" cy="2798064"/>
            </a:xfrm>
            <a:prstGeom prst="roundRect">
              <a:avLst/>
            </a:prstGeom>
            <a:solidFill>
              <a:srgbClr val="365E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66560" y="2250014"/>
              <a:ext cx="4297680" cy="365760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pPr algn="l">
                <a:defRPr sz="2000" b="1">
                  <a:solidFill>
                    <a:srgbClr val="FFFFFF"/>
                  </a:solidFill>
                  <a:latin typeface="Aptos"/>
                </a:defRPr>
              </a:pPr>
              <a:r>
                <a:t>PREMIUM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66560" y="2633472"/>
              <a:ext cx="4297680" cy="411480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pPr algn="l">
                <a:defRPr sz="2400" b="1">
                  <a:solidFill>
                    <a:srgbClr val="FFFFFF"/>
                  </a:solidFill>
                  <a:latin typeface="Aptos"/>
                </a:defRPr>
              </a:pPr>
              <a:r>
                <a:t>1 490 Ft / hó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66560" y="3154680"/>
              <a:ext cx="3913632" cy="420623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pPr algn="l">
                <a:defRPr sz="1400" b="0">
                  <a:solidFill>
                    <a:srgbClr val="FFFFFF"/>
                  </a:solidFill>
                  <a:latin typeface="Aptos"/>
                </a:defRPr>
              </a:pPr>
              <a:r>
                <a:rPr dirty="0" err="1"/>
                <a:t>Részletes</a:t>
              </a:r>
              <a:r>
                <a:rPr dirty="0"/>
                <a:t> </a:t>
              </a:r>
              <a:r>
                <a:rPr dirty="0" err="1"/>
                <a:t>statisztikák</a:t>
              </a:r>
              <a:endParaRPr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66560" y="3571622"/>
              <a:ext cx="3913632" cy="420623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pPr algn="l">
                <a:defRPr sz="1400" b="0">
                  <a:solidFill>
                    <a:srgbClr val="FFFFFF"/>
                  </a:solidFill>
                  <a:latin typeface="Aptos"/>
                </a:defRPr>
              </a:pPr>
              <a:r>
                <a:rPr dirty="0" err="1"/>
                <a:t>Személyes</a:t>
              </a:r>
              <a:r>
                <a:rPr dirty="0"/>
                <a:t> </a:t>
              </a:r>
              <a:r>
                <a:rPr dirty="0" err="1"/>
                <a:t>megfigyelési</a:t>
              </a:r>
              <a:r>
                <a:rPr dirty="0"/>
                <a:t> </a:t>
              </a:r>
              <a:r>
                <a:rPr dirty="0" err="1"/>
                <a:t>hőtérkép</a:t>
              </a:r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56400" y="4010658"/>
              <a:ext cx="3913632" cy="420623"/>
            </a:xfrm>
            <a:prstGeom prst="rect">
              <a:avLst/>
            </a:prstGeom>
            <a:noFill/>
          </p:spPr>
          <p:txBody>
            <a:bodyPr wrap="none" lIns="36576" tIns="18288" rIns="36576" bIns="18288">
              <a:spAutoFit/>
            </a:bodyPr>
            <a:lstStyle/>
            <a:p>
              <a:pPr algn="l">
                <a:defRPr sz="1400" b="0">
                  <a:solidFill>
                    <a:srgbClr val="FFFFFF"/>
                  </a:solidFill>
                  <a:latin typeface="Aptos"/>
                </a:defRPr>
              </a:pPr>
              <a:r>
                <a:t>Adatexport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22960" y="5166360"/>
            <a:ext cx="1042416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1">
                <a:solidFill>
                  <a:srgbClr val="1F2B21"/>
                </a:solidFill>
                <a:latin typeface="Aptos"/>
              </a:defRPr>
            </a:pPr>
            <a:r>
              <a:t>Kiegészítő lehetőség: oktatási együttműködések és felelős partnerségek.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42416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0">
                <a:solidFill>
                  <a:srgbClr val="697568"/>
                </a:solidFill>
                <a:latin typeface="Aptos"/>
              </a:defRPr>
            </a:pPr>
            <a:r>
              <a:t>Az árak koncepciószintű feltételezések; fizetési hajlandósággal tesztelendők.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Rounded Rectangle 4">
            <a:extLst>
              <a:ext uri="{FF2B5EF4-FFF2-40B4-BE49-F238E27FC236}">
                <a16:creationId xmlns:a16="http://schemas.microsoft.com/office/drawing/2014/main" id="{D0162FAC-AA6D-F0D4-177F-DCCD21B1C133}"/>
              </a:ext>
            </a:extLst>
          </p:cNvPr>
          <p:cNvSpPr/>
          <p:nvPr/>
        </p:nvSpPr>
        <p:spPr>
          <a:xfrm>
            <a:off x="8264652" y="1970531"/>
            <a:ext cx="3154680" cy="2779775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6F68875-8D90-7F8C-64D6-902394F21099}"/>
              </a:ext>
            </a:extLst>
          </p:cNvPr>
          <p:cNvSpPr txBox="1"/>
          <p:nvPr/>
        </p:nvSpPr>
        <p:spPr>
          <a:xfrm>
            <a:off x="8455152" y="2259519"/>
            <a:ext cx="2019464" cy="65248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000" b="1">
                <a:solidFill>
                  <a:srgbClr val="365E3D"/>
                </a:solidFill>
                <a:latin typeface="Aptos"/>
              </a:defRPr>
            </a:pPr>
            <a:r>
              <a:rPr lang="hu-HU" dirty="0"/>
              <a:t>PREMIUM PLUSZ</a:t>
            </a:r>
          </a:p>
          <a:p>
            <a:pPr algn="l">
              <a:defRPr sz="2000" b="1">
                <a:solidFill>
                  <a:srgbClr val="365E3D"/>
                </a:solidFill>
                <a:latin typeface="Aptos"/>
              </a:defRPr>
            </a:pPr>
            <a:r>
              <a:rPr lang="hu-HU" dirty="0"/>
              <a:t>11 990</a:t>
            </a:r>
            <a:r>
              <a:rPr dirty="0"/>
              <a:t> Ft</a:t>
            </a:r>
            <a:r>
              <a:rPr lang="hu-HU" dirty="0"/>
              <a:t> / év</a:t>
            </a:r>
            <a:endParaRPr dirty="0"/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4A0C1ECC-8788-EF80-1B20-48F2918A584B}"/>
              </a:ext>
            </a:extLst>
          </p:cNvPr>
          <p:cNvSpPr/>
          <p:nvPr/>
        </p:nvSpPr>
        <p:spPr>
          <a:xfrm>
            <a:off x="8519668" y="3136392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F5FFDF21-EFF2-71A4-AC7B-BE5ED481A1DD}"/>
              </a:ext>
            </a:extLst>
          </p:cNvPr>
          <p:cNvSpPr/>
          <p:nvPr/>
        </p:nvSpPr>
        <p:spPr>
          <a:xfrm>
            <a:off x="8519668" y="3592827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7DC5EC33-42F8-B3DF-7697-03827FBD44F2}"/>
              </a:ext>
            </a:extLst>
          </p:cNvPr>
          <p:cNvSpPr/>
          <p:nvPr/>
        </p:nvSpPr>
        <p:spPr>
          <a:xfrm>
            <a:off x="8546592" y="4102864"/>
            <a:ext cx="100584" cy="100584"/>
          </a:xfrm>
          <a:prstGeom prst="roundRect">
            <a:avLst/>
          </a:prstGeom>
          <a:solidFill>
            <a:srgbClr val="71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9AF61957-4336-2236-D2C0-80FA9C20410E}"/>
              </a:ext>
            </a:extLst>
          </p:cNvPr>
          <p:cNvSpPr txBox="1"/>
          <p:nvPr/>
        </p:nvSpPr>
        <p:spPr>
          <a:xfrm>
            <a:off x="8686800" y="3054732"/>
            <a:ext cx="2132892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lang="hu-HU" dirty="0"/>
              <a:t>Minden </a:t>
            </a:r>
            <a:r>
              <a:rPr lang="hu-HU" dirty="0" err="1"/>
              <a:t>premium</a:t>
            </a:r>
            <a:r>
              <a:rPr lang="hu-HU" dirty="0"/>
              <a:t> funkció</a:t>
            </a:r>
            <a:endParaRPr dirty="0"/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D7D081E7-F87D-B928-9931-33EDA7F118F3}"/>
              </a:ext>
            </a:extLst>
          </p:cNvPr>
          <p:cNvSpPr txBox="1"/>
          <p:nvPr/>
        </p:nvSpPr>
        <p:spPr>
          <a:xfrm>
            <a:off x="8665972" y="3475605"/>
            <a:ext cx="1674369" cy="49859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lang="hu-HU" dirty="0"/>
              <a:t>Éves összefoglaló a</a:t>
            </a:r>
          </a:p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lang="hu-HU" dirty="0"/>
              <a:t> megfigyelt fajokról</a:t>
            </a:r>
            <a:endParaRPr dirty="0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30676773-4F6A-899E-5D1F-8721C6D253C5}"/>
              </a:ext>
            </a:extLst>
          </p:cNvPr>
          <p:cNvSpPr txBox="1"/>
          <p:nvPr/>
        </p:nvSpPr>
        <p:spPr>
          <a:xfrm>
            <a:off x="8665972" y="4007627"/>
            <a:ext cx="2357697" cy="26776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E392F"/>
                </a:solidFill>
                <a:latin typeface="Aptos"/>
              </a:defRPr>
            </a:pPr>
            <a:r>
              <a:rPr lang="hu-HU" dirty="0"/>
              <a:t>Haladó térképes elemzések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06 • HASZNÁLAT ÉS BEVÉTEL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6450164" cy="4524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rPr lang="hu-HU" dirty="0"/>
              <a:t>Legutóbbi alkalmazás indítási statisztika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4212500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rPr dirty="0" err="1"/>
              <a:t>Szemléltető</a:t>
            </a:r>
            <a:r>
              <a:rPr dirty="0"/>
              <a:t> </a:t>
            </a:r>
            <a:r>
              <a:rPr dirty="0" err="1"/>
              <a:t>mintagrafikonok</a:t>
            </a:r>
            <a:r>
              <a:rPr dirty="0"/>
              <a:t>; a 2. </a:t>
            </a:r>
            <a:r>
              <a:rPr dirty="0" err="1"/>
              <a:t>rész</a:t>
            </a:r>
            <a:r>
              <a:rPr dirty="0"/>
              <a:t> Excel-</a:t>
            </a:r>
            <a:r>
              <a:rPr dirty="0" err="1"/>
              <a:t>adataira</a:t>
            </a:r>
            <a:r>
              <a:rPr dirty="0"/>
              <a:t> </a:t>
            </a:r>
            <a:r>
              <a:rPr lang="hu-HU" dirty="0"/>
              <a:t>alapulva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87568"/>
            <a:ext cx="1060704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97568"/>
                </a:solidFill>
                <a:latin typeface="Aptos"/>
              </a:defRPr>
            </a:pPr>
            <a:r>
              <a:t>Fiktív szemléltető értékek — nem valós felhasználói eredmények.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1" name="Ábra 10">
            <a:extLst>
              <a:ext uri="{FF2B5EF4-FFF2-40B4-BE49-F238E27FC236}">
                <a16:creationId xmlns:a16="http://schemas.microsoft.com/office/drawing/2014/main" id="{E63D20AE-42E1-B4F0-1E53-2DD766B7E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781" y="1753284"/>
            <a:ext cx="6744437" cy="3403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AB7F-7AFA-25CE-B645-F697951F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DDAF8-ACE9-8717-4E97-C1BE161F5D26}"/>
              </a:ext>
            </a:extLst>
          </p:cNvPr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06 • HASZNÁLAT ÉS BEVÉTEL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A28F4-A2B5-C9E1-52C1-B855E2DFC793}"/>
              </a:ext>
            </a:extLst>
          </p:cNvPr>
          <p:cNvSpPr txBox="1"/>
          <p:nvPr/>
        </p:nvSpPr>
        <p:spPr>
          <a:xfrm>
            <a:off x="594360" y="621792"/>
            <a:ext cx="3564437" cy="4524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rPr lang="hu-HU" dirty="0" err="1"/>
              <a:t>Bevételeg</a:t>
            </a:r>
            <a:r>
              <a:rPr lang="hu-HU" dirty="0"/>
              <a:t> megoszlása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0B3E1-2CCD-0CFA-27F8-274751B2962A}"/>
              </a:ext>
            </a:extLst>
          </p:cNvPr>
          <p:cNvSpPr txBox="1"/>
          <p:nvPr/>
        </p:nvSpPr>
        <p:spPr>
          <a:xfrm>
            <a:off x="621792" y="1170432"/>
            <a:ext cx="4212500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rPr dirty="0" err="1"/>
              <a:t>Szemléltető</a:t>
            </a:r>
            <a:r>
              <a:rPr dirty="0"/>
              <a:t> </a:t>
            </a:r>
            <a:r>
              <a:rPr dirty="0" err="1"/>
              <a:t>mintagrafikonok</a:t>
            </a:r>
            <a:r>
              <a:rPr dirty="0"/>
              <a:t>; a 2. </a:t>
            </a:r>
            <a:r>
              <a:rPr dirty="0" err="1"/>
              <a:t>rész</a:t>
            </a:r>
            <a:r>
              <a:rPr dirty="0"/>
              <a:t> Excel-</a:t>
            </a:r>
            <a:r>
              <a:rPr dirty="0" err="1"/>
              <a:t>adataira</a:t>
            </a:r>
            <a:r>
              <a:rPr dirty="0"/>
              <a:t> </a:t>
            </a:r>
            <a:r>
              <a:rPr lang="hu-HU" dirty="0"/>
              <a:t>alapulva</a:t>
            </a:r>
            <a:r>
              <a:rPr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F451D-C53D-88EE-A5E1-7E3D6908357C}"/>
              </a:ext>
            </a:extLst>
          </p:cNvPr>
          <p:cNvSpPr txBox="1"/>
          <p:nvPr/>
        </p:nvSpPr>
        <p:spPr>
          <a:xfrm>
            <a:off x="777240" y="5687568"/>
            <a:ext cx="1060704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100" b="0">
                <a:solidFill>
                  <a:srgbClr val="697568"/>
                </a:solidFill>
                <a:latin typeface="Aptos"/>
              </a:defRPr>
            </a:pPr>
            <a:r>
              <a:t>Fiktív szemléltető értékek — nem valós felhasználói eredmények.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53FED-33BF-0F2A-7B9E-1B4F072ADBDC}"/>
              </a:ext>
            </a:extLst>
          </p:cNvPr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F5471-6DC5-2D5B-2F33-3F41605B66E5}"/>
              </a:ext>
            </a:extLst>
          </p:cNvPr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Ábra 5">
            <a:extLst>
              <a:ext uri="{FF2B5EF4-FFF2-40B4-BE49-F238E27FC236}">
                <a16:creationId xmlns:a16="http://schemas.microsoft.com/office/drawing/2014/main" id="{302D1E06-B294-F97D-83AA-48F8D4025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00362" y="1704975"/>
            <a:ext cx="63912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0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000" b="1">
                <a:solidFill>
                  <a:srgbClr val="719769"/>
                </a:solidFill>
                <a:latin typeface="Aptos"/>
              </a:defRPr>
            </a:pPr>
            <a:r>
              <a:t>07 • MEGVALÓSÍTÁS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F2B21"/>
                </a:solidFill>
                <a:latin typeface="Aptos"/>
              </a:defRPr>
            </a:pPr>
            <a:r>
              <a:t>12 hét alatt pilotra kész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474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0">
                <a:solidFill>
                  <a:srgbClr val="697568"/>
                </a:solidFill>
                <a:latin typeface="Aptos"/>
              </a:defRPr>
            </a:pPr>
            <a:r>
              <a:t>Először a megbízható naplózást igazoljuk, a fejlett funkciók később jönnek.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2057400" cy="1874519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2450592"/>
            <a:ext cx="1828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65E3D"/>
                </a:solidFill>
                <a:latin typeface="Aptos"/>
              </a:defRPr>
            </a:pPr>
            <a:r>
              <a:t>1–2.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017520"/>
            <a:ext cx="1828800" cy="6858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Igényfelmérés</a:t>
            </a:r>
          </a:p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Követelménylista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880360"/>
            <a:ext cx="2286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7197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148840"/>
            <a:ext cx="20574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2450592"/>
            <a:ext cx="1828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65E3D"/>
                </a:solidFill>
                <a:latin typeface="Aptos"/>
              </a:defRPr>
            </a:pPr>
            <a:r>
              <a:t>3–4.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3017520"/>
            <a:ext cx="1828800" cy="6858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Prototípus</a:t>
            </a:r>
          </a:p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Használhatósági teszt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880360"/>
            <a:ext cx="2286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7197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148840"/>
            <a:ext cx="2057400" cy="1874519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2450592"/>
            <a:ext cx="1828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65E3D"/>
                </a:solidFill>
                <a:latin typeface="Aptos"/>
              </a:defRPr>
            </a:pPr>
            <a:r>
              <a:t>5–8. HÉT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017520"/>
            <a:ext cx="1828800" cy="6858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Alapfunkciók</a:t>
            </a:r>
          </a:p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Offline tárolás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880360"/>
            <a:ext cx="2286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7197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2148840"/>
            <a:ext cx="20574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7" y="2450592"/>
            <a:ext cx="1828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65E3D"/>
                </a:solidFill>
                <a:latin typeface="Aptos"/>
              </a:defRPr>
            </a:pPr>
            <a:r>
              <a:t>9–10. HÉT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017520"/>
            <a:ext cx="1828800" cy="6858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Szinkronizálás</a:t>
            </a:r>
          </a:p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Adatvédelem, teszt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880360"/>
            <a:ext cx="2286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7197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148840"/>
            <a:ext cx="2057400" cy="1874519"/>
          </a:xfrm>
          <a:prstGeom prst="roundRect">
            <a:avLst/>
          </a:prstGeom>
          <a:solidFill>
            <a:srgbClr val="EB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30967" y="2450592"/>
            <a:ext cx="1828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365E3D"/>
                </a:solidFill>
                <a:latin typeface="Aptos"/>
              </a:defRPr>
            </a:pPr>
            <a:r>
              <a:t>11–12. HÉT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0967" y="3017520"/>
            <a:ext cx="1828800" cy="6858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Hibajavítás</a:t>
            </a:r>
          </a:p>
          <a:p>
            <a:pPr algn="ctr">
              <a:defRPr sz="1300" b="0">
                <a:solidFill>
                  <a:srgbClr val="2E392F"/>
                </a:solidFill>
                <a:latin typeface="Aptos"/>
              </a:defRPr>
            </a:pPr>
            <a:r>
              <a:t>Pilotindítás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10515600" cy="5943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F2B21"/>
                </a:solidFill>
                <a:latin typeface="Aptos"/>
              </a:defRPr>
            </a:pPr>
            <a:r>
              <a:t>MVP-fókusz: rögzítés • fajlista • keresés • offline mentés •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100" b="1">
                <a:solidFill>
                  <a:srgbClr val="CEAE5B"/>
                </a:solidFill>
                <a:latin typeface="Aptos"/>
              </a:defRPr>
            </a:pPr>
            <a:r>
              <a:t>08 • BEFEKTETŐI ÖSSZEFOGLALÓ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Miért</a:t>
            </a:r>
            <a:r>
              <a:rPr dirty="0"/>
              <a:t> </a:t>
            </a:r>
            <a:r>
              <a:rPr dirty="0" err="1"/>
              <a:t>érdemes</a:t>
            </a:r>
            <a:r>
              <a:rPr dirty="0"/>
              <a:t> </a:t>
            </a:r>
            <a:r>
              <a:rPr dirty="0" err="1"/>
              <a:t>továbbvinni</a:t>
            </a:r>
            <a:r>
              <a:rPr dirty="0"/>
              <a:t> a </a:t>
            </a:r>
            <a:r>
              <a:rPr dirty="0" err="1"/>
              <a:t>Madárkalauzt</a:t>
            </a:r>
            <a:r>
              <a:rPr dirty="0"/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3429000" cy="1920240"/>
          </a:xfrm>
          <a:prstGeom prst="roundRect">
            <a:avLst/>
          </a:prstGeom>
          <a:solidFill>
            <a:srgbClr val="36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2359152"/>
            <a:ext cx="297180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CEAE5B"/>
                </a:solidFill>
                <a:latin typeface="Aptos"/>
              </a:defRPr>
            </a:pPr>
            <a:r>
              <a:t>EGYSZERŰ ÉRTÉKAJÁNLAT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880360"/>
            <a:ext cx="2577372" cy="49859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megfigyelések</a:t>
            </a:r>
            <a:r>
              <a:rPr dirty="0"/>
              <a:t> </a:t>
            </a: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helyen</a:t>
            </a:r>
            <a:r>
              <a:rPr dirty="0"/>
              <a:t>, </a:t>
            </a:r>
            <a:endParaRPr lang="hu-HU" dirty="0"/>
          </a:p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gyorsan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visszakereshetően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057400"/>
            <a:ext cx="3429000" cy="1920240"/>
          </a:xfrm>
          <a:prstGeom prst="roundRect">
            <a:avLst/>
          </a:prstGeom>
          <a:solidFill>
            <a:srgbClr val="36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2359152"/>
            <a:ext cx="297180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CEAE5B"/>
                </a:solidFill>
                <a:latin typeface="Aptos"/>
              </a:defRPr>
            </a:pPr>
            <a:r>
              <a:t>JÓL KÖRÜLHATÁROLT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880360"/>
            <a:ext cx="2967031" cy="49859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Kezdésként</a:t>
            </a:r>
            <a:r>
              <a:rPr dirty="0"/>
              <a:t> </a:t>
            </a:r>
            <a:r>
              <a:rPr dirty="0" err="1"/>
              <a:t>naplózás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endParaRPr lang="hu-HU" dirty="0"/>
          </a:p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offline </a:t>
            </a:r>
            <a:r>
              <a:rPr dirty="0" err="1"/>
              <a:t>működés</a:t>
            </a:r>
            <a:r>
              <a:rPr dirty="0"/>
              <a:t>; </a:t>
            </a:r>
            <a:r>
              <a:rPr dirty="0" err="1"/>
              <a:t>később</a:t>
            </a:r>
            <a:r>
              <a:rPr dirty="0"/>
              <a:t> </a:t>
            </a:r>
            <a:r>
              <a:rPr dirty="0" err="1"/>
              <a:t>bővíthető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57400"/>
            <a:ext cx="3429000" cy="1920240"/>
          </a:xfrm>
          <a:prstGeom prst="roundRect">
            <a:avLst/>
          </a:prstGeom>
          <a:solidFill>
            <a:srgbClr val="36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2359152"/>
            <a:ext cx="297180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200" b="1">
                <a:solidFill>
                  <a:srgbClr val="CEAE5B"/>
                </a:solidFill>
                <a:latin typeface="Aptos"/>
              </a:defRPr>
            </a:pPr>
            <a:r>
              <a:t>TESZTELHETŐ ÜZLETI MODELL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880360"/>
            <a:ext cx="2525628" cy="49859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Ingyenes</a:t>
            </a:r>
            <a:r>
              <a:rPr dirty="0"/>
              <a:t> </a:t>
            </a:r>
            <a:r>
              <a:rPr dirty="0" err="1"/>
              <a:t>alaptermék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endParaRPr lang="hu-HU" dirty="0"/>
          </a:p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opcionális</a:t>
            </a:r>
            <a:r>
              <a:rPr dirty="0"/>
              <a:t> </a:t>
            </a:r>
            <a:r>
              <a:rPr dirty="0" err="1"/>
              <a:t>prémium</a:t>
            </a:r>
            <a:r>
              <a:rPr dirty="0"/>
              <a:t> </a:t>
            </a:r>
            <a:r>
              <a:rPr dirty="0" err="1"/>
              <a:t>funkciók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332720" cy="5943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1700" b="1">
                <a:solidFill>
                  <a:srgbClr val="EBF2E5"/>
                </a:solidFill>
                <a:latin typeface="Aptos"/>
              </a:defRPr>
            </a:pPr>
            <a:r>
              <a:t>Következő lépés: felhasználói interjúk, prototípus-teszt és mérés 50 fős mintán.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24128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Minden észlelés egy történet.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>
              <a:defRPr sz="800" b="1">
                <a:solidFill>
                  <a:srgbClr val="697568"/>
                </a:solidFill>
                <a:latin typeface="Aptos"/>
              </a:defRPr>
            </a:pPr>
            <a:r>
              <a:t>MADÁRKALAUZ • BEFEKTETŐI KONCEPCIÓ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900" b="0">
                <a:solidFill>
                  <a:srgbClr val="69756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604</Words>
  <Application>Microsoft Office PowerPoint</Application>
  <PresentationFormat>Szélesvásznú</PresentationFormat>
  <Paragraphs>153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Madárkalauz – befektetői prezentáció</dc:title>
  <dc:subject>9 diás befektetői pitch</dc:subject>
  <dc:creator>Projektmunka</dc:creator>
  <cp:keywords/>
  <dc:description>generated using python-pptx</dc:description>
  <cp:lastModifiedBy>Csáki Zsófia</cp:lastModifiedBy>
  <cp:revision>5</cp:revision>
  <dcterms:created xsi:type="dcterms:W3CDTF">2013-01-27T09:14:16Z</dcterms:created>
  <dcterms:modified xsi:type="dcterms:W3CDTF">2026-10-22T13:39:52Z</dcterms:modified>
  <cp:category/>
</cp:coreProperties>
</file>